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split: Krrish covers the problem, data, features and models; Shesanth covers EDA, the split and regression results; Shamika covers classification results, comparison, SHAP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trades around the clock and moves fast, so rules and models help turn data into signals. We frame it as Buy (1) or Sell (0), decided by short-term versus long-term trend, and also predict the expected next-hour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24,521 of 499,999 minutes had a trade. We combined trade minutes into hourly bars and dropped the 3,209 hours with no trades instead of inventing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features use only current and past bars. The raw 10-bar and 60-bar averages are not inputs, so the model cannot just read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networks use the same small 64-32 architecture so the comparison is fair. Lightning replaces Lightning Flash, which is unmaintained and could not be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was thin early in 2012: 155 bars with trades in January against 662 in August. Nearly a quarter of bars follow a gap of two hours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Moves of +26.8% and -22.3% on 19 January are single small trades in a thin market, so we kept them. The signal repeats 97.7% of the time, which is why the 12-bar experiment is judged against repeating the current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in time order with a 12-bar gap so nothing leaks. The test period is a strong uptrend, so always-Buy scores 84.5%; we report balanced accuracy, F1 and AUC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framework cuts the error about 12 percent versus predicting the average, and R-squared is 0.21 to 0.23. Differences between frameworks are within noise for 759 bars. The signal is mostly a thin-market bounce-back, not a trading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beat the always-Buy baseline of 84.5 percent, including on balanced accuracy, so the result is not just the uptrend. It is trend recognition, because the label and features come from the same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validation the models beat the baseline by about five points, but on test the baseline is 84.5 percent and accuracy ranges from 82.1 to 85.4, so the gain was not confirmed. AUC stays clearly higher, so the models rank bars sensibly.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trains in under half a second and can be explained with SHAP. The neural networks take 4 to 17 seconds for the same accuracy, and TabNet and Lightning need the most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Averaging XGBoost and Keras was level with the better single model. SHAP shows that after a jump the model predicts a lower next return, which matches the bounce-back seen in the 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findings and the limits,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2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630936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bg>
      <p:bgPr>
        <a:solidFill>
          <a:srgbClr val="2B2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D0D3D9"/>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6309360" cy="1463040"/>
          </a:xfrm>
          <a:prstGeom prst="rect">
            <a:avLst/>
          </a:prstGeom>
          <a:noFill/>
          <a:ln/>
        </p:spPr>
        <p:txBody>
          <a:bodyPr wrap="square" lIns="0" tIns="0" rIns="0" bIns="0" rtlCol="0" anchor="t"/>
          <a:lstStyle/>
          <a:p>
            <a:pPr algn="l" indent="0" marL="0">
              <a:buNone/>
            </a:pPr>
            <a:r>
              <a:rPr lang="en-US" sz="3800" b="1" dirty="0">
                <a:solidFill>
                  <a:schemeClr val="bg1"/>
                </a:solidFill>
              </a:rPr>
              <a:t>Predicting Buy or Sell in the Bitcoin Market</a:t>
            </a:r>
            <a:endParaRPr lang="en-US" sz="3800" dirty="0"/>
          </a:p>
        </p:txBody>
      </p:sp>
      <p:sp>
        <p:nvSpPr>
          <p:cNvPr id="3" name="Text 1"/>
          <p:cNvSpPr txBox="1"/>
          <p:nvPr/>
        </p:nvSpPr>
        <p:spPr>
          <a:xfrm>
            <a:off x="548640" y="2514600"/>
            <a:ext cx="6400800" cy="365760"/>
          </a:xfrm>
          <a:prstGeom prst="rect">
            <a:avLst/>
          </a:prstGeom>
          <a:noFill/>
          <a:ln/>
        </p:spPr>
        <p:txBody>
          <a:bodyPr wrap="square" lIns="0" tIns="0" rIns="0" bIns="0" rtlCol="0" anchor="t"/>
          <a:lstStyle/>
          <a:p>
            <a:pPr indent="0" marL="0">
              <a:buNone/>
            </a:pPr>
            <a:r>
              <a:rPr lang="en-US" sz="1800" dirty="0">
                <a:solidFill>
                  <a:srgbClr val="D0D3D9"/>
                </a:solidFill>
              </a:rPr>
              <a:t>Machine Learning with Business Data  |  Project Id 3</a:t>
            </a:r>
            <a:endParaRPr lang="en-US" sz="1800" dirty="0"/>
          </a:p>
        </p:txBody>
      </p:sp>
      <p:sp>
        <p:nvSpPr>
          <p:cNvPr id="4" name="Text 2"/>
          <p:cNvSpPr txBox="1"/>
          <p:nvPr/>
        </p:nvSpPr>
        <p:spPr>
          <a:xfrm>
            <a:off x="548640" y="3154680"/>
            <a:ext cx="5943600" cy="1188720"/>
          </a:xfrm>
          <a:prstGeom prst="rect">
            <a:avLst/>
          </a:prstGeom>
          <a:noFill/>
          <a:ln/>
        </p:spPr>
        <p:txBody>
          <a:bodyPr wrap="square" lIns="0" tIns="0" rIns="0" bIns="0" rtlCol="0" anchor="t"/>
          <a:lstStyle/>
          <a:p>
            <a:pPr indent="0" marL="0">
              <a:spcAft>
                <a:spcPts val="600"/>
              </a:spcAft>
              <a:buNone/>
            </a:pPr>
            <a:r>
              <a:rPr lang="en-US" sz="1600" dirty="0">
                <a:solidFill>
                  <a:schemeClr val="bg1"/>
                </a:solidFill>
              </a:rPr>
              <a:t>Krrish Singla  |  PES1UG24AM141</a:t>
            </a:r>
            <a:endParaRPr lang="en-US" sz="1600" dirty="0"/>
          </a:p>
          <a:p>
            <a:pPr indent="0" marL="0">
              <a:spcAft>
                <a:spcPts val="600"/>
              </a:spcAft>
              <a:buNone/>
            </a:pPr>
            <a:r>
              <a:rPr lang="en-US" sz="1600" dirty="0">
                <a:solidFill>
                  <a:schemeClr val="bg1"/>
                </a:solidFill>
              </a:rPr>
              <a:t>Shesanth K  |  PES1UG24AM261</a:t>
            </a:r>
            <a:endParaRPr lang="en-US" sz="1600" dirty="0"/>
          </a:p>
          <a:p>
            <a:pPr indent="0" marL="0">
              <a:spcAft>
                <a:spcPts val="600"/>
              </a:spcAft>
              <a:buNone/>
            </a:pPr>
            <a:r>
              <a:rPr lang="en-US" sz="1600" dirty="0">
                <a:solidFill>
                  <a:schemeClr val="bg1"/>
                </a:solidFill>
              </a:rPr>
              <a:t>Shamika Mahesh  |  PES1UG24AM259</a:t>
            </a:r>
            <a:endParaRPr lang="en-US" sz="1600" dirty="0"/>
          </a:p>
        </p:txBody>
      </p:sp>
      <p:sp>
        <p:nvSpPr>
          <p:cNvPr id="5" name="Shape 3"/>
          <p:cNvSpPr/>
          <p:nvPr/>
        </p:nvSpPr>
        <p:spPr>
          <a:xfrm>
            <a:off x="7223760" y="640080"/>
            <a:ext cx="1371600" cy="1371600"/>
          </a:xfrm>
          <a:prstGeom prst="ellipse">
            <a:avLst/>
          </a:prstGeom>
          <a:solidFill>
            <a:schemeClr val="accent1"/>
          </a:solidFill>
          <a:ln/>
        </p:spPr>
      </p:sp>
      <p:sp>
        <p:nvSpPr>
          <p:cNvPr id="6" name="Text 4"/>
          <p:cNvSpPr txBox="1"/>
          <p:nvPr/>
        </p:nvSpPr>
        <p:spPr>
          <a:xfrm>
            <a:off x="7223760" y="640080"/>
            <a:ext cx="1371600" cy="1371600"/>
          </a:xfrm>
          <a:prstGeom prst="rect">
            <a:avLst/>
          </a:prstGeom>
          <a:noFill/>
          <a:ln/>
        </p:spPr>
        <p:txBody>
          <a:bodyPr wrap="square" rtlCol="0" anchor="ctr"/>
          <a:lstStyle/>
          <a:p>
            <a:pPr algn="ctr" indent="0" marL="0">
              <a:buNone/>
            </a:pPr>
            <a:r>
              <a:rPr lang="en-US" sz="2400" b="1" dirty="0">
                <a:solidFill>
                  <a:schemeClr val="bg1"/>
                </a:solidFill>
              </a:rPr>
              <a:t>BTC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Introduction</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Krrish Singla</a:t>
            </a:r>
            <a:endParaRPr lang="en-US" sz="1200" dirty="0"/>
          </a:p>
        </p:txBody>
      </p:sp>
      <p:sp>
        <p:nvSpPr>
          <p:cNvPr id="5" name="Text 2"/>
          <p:cNvSpPr txBox="1"/>
          <p:nvPr/>
        </p:nvSpPr>
        <p:spPr>
          <a:xfrm>
            <a:off x="457200" y="1280160"/>
            <a:ext cx="82296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Predict a Buy or Sell signal for Bitcoin, and the expected next-hour return</a:t>
            </a:r>
            <a:endParaRPr lang="en-US" sz="1600" dirty="0"/>
          </a:p>
          <a:p>
            <a:pPr marL="342900" indent="-342900">
              <a:spcAft>
                <a:spcPts val="800"/>
              </a:spcAft>
              <a:buSzPct val="100000"/>
              <a:buChar char="•"/>
            </a:pPr>
            <a:r>
              <a:rPr lang="en-US" sz="1600" dirty="0">
                <a:solidFill>
                  <a:schemeClr val="tx1"/>
                </a:solidFill>
              </a:rPr>
              <a:t>Data: Bitstamp sample, Dec 2011 to Dec 2012, one row per minute</a:t>
            </a:r>
            <a:endParaRPr lang="en-US" sz="1600" dirty="0"/>
          </a:p>
          <a:p>
            <a:pPr marL="342900" indent="-342900">
              <a:spcAft>
                <a:spcPts val="800"/>
              </a:spcAft>
              <a:buSzPct val="100000"/>
              <a:buChar char="•"/>
            </a:pPr>
            <a:r>
              <a:rPr lang="en-US" sz="1600" dirty="0">
                <a:solidFill>
                  <a:schemeClr val="tx1"/>
                </a:solidFill>
              </a:rPr>
              <a:t>Compare 5 frameworks on simplicity, transparency, efficacy, RMSE, R² and MAE</a:t>
            </a:r>
            <a:endParaRPr lang="en-US" sz="1600" dirty="0"/>
          </a:p>
        </p:txBody>
      </p:sp>
      <p:sp>
        <p:nvSpPr>
          <p:cNvPr id="6" name="Shape 3"/>
          <p:cNvSpPr/>
          <p:nvPr/>
        </p:nvSpPr>
        <p:spPr>
          <a:xfrm>
            <a:off x="457200" y="3017520"/>
            <a:ext cx="1828800" cy="1463040"/>
          </a:xfrm>
          <a:prstGeom prst="roundRect">
            <a:avLst>
              <a:gd name="adj" fmla="val 6250"/>
            </a:avLst>
          </a:prstGeom>
          <a:solidFill>
            <a:schemeClr val="bg2"/>
          </a:solidFill>
          <a:ln/>
        </p:spPr>
      </p:sp>
      <p:sp>
        <p:nvSpPr>
          <p:cNvPr id="7" name="Text 4"/>
          <p:cNvSpPr txBox="1"/>
          <p:nvPr/>
        </p:nvSpPr>
        <p:spPr>
          <a:xfrm>
            <a:off x="457200" y="3154680"/>
            <a:ext cx="1828800" cy="731520"/>
          </a:xfrm>
          <a:prstGeom prst="rect">
            <a:avLst/>
          </a:prstGeom>
          <a:noFill/>
          <a:ln/>
        </p:spPr>
        <p:txBody>
          <a:bodyPr wrap="square" rtlCol="0" anchor="ctr"/>
          <a:lstStyle/>
          <a:p>
            <a:pPr algn="ctr" indent="0" marL="0">
              <a:buNone/>
            </a:pPr>
            <a:r>
              <a:rPr lang="en-US" sz="3200" b="1" dirty="0">
                <a:solidFill>
                  <a:schemeClr val="accent1"/>
                </a:solidFill>
              </a:rPr>
              <a:t>5,125</a:t>
            </a:r>
            <a:endParaRPr lang="en-US" sz="3200" dirty="0"/>
          </a:p>
        </p:txBody>
      </p:sp>
      <p:sp>
        <p:nvSpPr>
          <p:cNvPr id="8" name="Text 5"/>
          <p:cNvSpPr txBox="1"/>
          <p:nvPr/>
        </p:nvSpPr>
        <p:spPr>
          <a:xfrm>
            <a:off x="457200" y="3886200"/>
            <a:ext cx="1828800" cy="365760"/>
          </a:xfrm>
          <a:prstGeom prst="rect">
            <a:avLst/>
          </a:prstGeom>
          <a:noFill/>
          <a:ln/>
        </p:spPr>
        <p:txBody>
          <a:bodyPr wrap="square" rtlCol="0" anchor="ctr"/>
          <a:lstStyle/>
          <a:p>
            <a:pPr algn="ctr" indent="0" marL="0">
              <a:buNone/>
            </a:pPr>
            <a:r>
              <a:rPr lang="en-US" sz="1400" dirty="0">
                <a:solidFill>
                  <a:schemeClr val="tx2"/>
                </a:solidFill>
              </a:rPr>
              <a:t>hourly bars</a:t>
            </a:r>
            <a:endParaRPr lang="en-US" sz="1400" dirty="0"/>
          </a:p>
        </p:txBody>
      </p:sp>
      <p:sp>
        <p:nvSpPr>
          <p:cNvPr id="9" name="Shape 6"/>
          <p:cNvSpPr/>
          <p:nvPr/>
        </p:nvSpPr>
        <p:spPr>
          <a:xfrm>
            <a:off x="2587752" y="3017520"/>
            <a:ext cx="1828800" cy="1463040"/>
          </a:xfrm>
          <a:prstGeom prst="roundRect">
            <a:avLst>
              <a:gd name="adj" fmla="val 6250"/>
            </a:avLst>
          </a:prstGeom>
          <a:solidFill>
            <a:schemeClr val="bg2"/>
          </a:solidFill>
          <a:ln/>
        </p:spPr>
      </p:sp>
      <p:sp>
        <p:nvSpPr>
          <p:cNvPr id="10" name="Text 7"/>
          <p:cNvSpPr txBox="1"/>
          <p:nvPr/>
        </p:nvSpPr>
        <p:spPr>
          <a:xfrm>
            <a:off x="2587752" y="3154680"/>
            <a:ext cx="1828800" cy="731520"/>
          </a:xfrm>
          <a:prstGeom prst="rect">
            <a:avLst/>
          </a:prstGeom>
          <a:noFill/>
          <a:ln/>
        </p:spPr>
        <p:txBody>
          <a:bodyPr wrap="square" rtlCol="0" anchor="ctr"/>
          <a:lstStyle/>
          <a:p>
            <a:pPr algn="ctr" indent="0" marL="0">
              <a:buNone/>
            </a:pPr>
            <a:r>
              <a:rPr lang="en-US" sz="3200" b="1" dirty="0">
                <a:solidFill>
                  <a:schemeClr val="accent1"/>
                </a:solidFill>
              </a:rPr>
              <a:t>26</a:t>
            </a:r>
            <a:endParaRPr lang="en-US" sz="3200" dirty="0"/>
          </a:p>
        </p:txBody>
      </p:sp>
      <p:sp>
        <p:nvSpPr>
          <p:cNvPr id="11" name="Text 8"/>
          <p:cNvSpPr txBox="1"/>
          <p:nvPr/>
        </p:nvSpPr>
        <p:spPr>
          <a:xfrm>
            <a:off x="2587752" y="3886200"/>
            <a:ext cx="1828800" cy="365760"/>
          </a:xfrm>
          <a:prstGeom prst="rect">
            <a:avLst/>
          </a:prstGeom>
          <a:noFill/>
          <a:ln/>
        </p:spPr>
        <p:txBody>
          <a:bodyPr wrap="square" rtlCol="0" anchor="ctr"/>
          <a:lstStyle/>
          <a:p>
            <a:pPr algn="ctr" indent="0" marL="0">
              <a:buNone/>
            </a:pPr>
            <a:r>
              <a:rPr lang="en-US" sz="1400" dirty="0">
                <a:solidFill>
                  <a:schemeClr val="tx2"/>
                </a:solidFill>
              </a:rPr>
              <a:t>input features</a:t>
            </a:r>
            <a:endParaRPr lang="en-US" sz="1400" dirty="0"/>
          </a:p>
        </p:txBody>
      </p:sp>
      <p:sp>
        <p:nvSpPr>
          <p:cNvPr id="12" name="Shape 9"/>
          <p:cNvSpPr/>
          <p:nvPr/>
        </p:nvSpPr>
        <p:spPr>
          <a:xfrm>
            <a:off x="4718304" y="3017520"/>
            <a:ext cx="1828800" cy="1463040"/>
          </a:xfrm>
          <a:prstGeom prst="roundRect">
            <a:avLst>
              <a:gd name="adj" fmla="val 6250"/>
            </a:avLst>
          </a:prstGeom>
          <a:solidFill>
            <a:schemeClr val="bg2"/>
          </a:solidFill>
          <a:ln/>
        </p:spPr>
      </p:sp>
      <p:sp>
        <p:nvSpPr>
          <p:cNvPr id="13" name="Text 10"/>
          <p:cNvSpPr txBox="1"/>
          <p:nvPr/>
        </p:nvSpPr>
        <p:spPr>
          <a:xfrm>
            <a:off x="4718304" y="3154680"/>
            <a:ext cx="1828800" cy="731520"/>
          </a:xfrm>
          <a:prstGeom prst="rect">
            <a:avLst/>
          </a:prstGeom>
          <a:noFill/>
          <a:ln/>
        </p:spPr>
        <p:txBody>
          <a:bodyPr wrap="square" rtlCol="0" anchor="ctr"/>
          <a:lstStyle/>
          <a:p>
            <a:pPr algn="ctr" indent="0" marL="0">
              <a:buNone/>
            </a:pPr>
            <a:r>
              <a:rPr lang="en-US" sz="3200" b="1" dirty="0">
                <a:solidFill>
                  <a:schemeClr val="accent1"/>
                </a:solidFill>
              </a:rPr>
              <a:t>5</a:t>
            </a:r>
            <a:endParaRPr lang="en-US" sz="3200" dirty="0"/>
          </a:p>
        </p:txBody>
      </p:sp>
      <p:sp>
        <p:nvSpPr>
          <p:cNvPr id="14" name="Text 11"/>
          <p:cNvSpPr txBox="1"/>
          <p:nvPr/>
        </p:nvSpPr>
        <p:spPr>
          <a:xfrm>
            <a:off x="4718304" y="3886200"/>
            <a:ext cx="1828800" cy="365760"/>
          </a:xfrm>
          <a:prstGeom prst="rect">
            <a:avLst/>
          </a:prstGeom>
          <a:noFill/>
          <a:ln/>
        </p:spPr>
        <p:txBody>
          <a:bodyPr wrap="square" rtlCol="0" anchor="ctr"/>
          <a:lstStyle/>
          <a:p>
            <a:pPr algn="ctr" indent="0" marL="0">
              <a:buNone/>
            </a:pPr>
            <a:r>
              <a:rPr lang="en-US" sz="1400" dirty="0">
                <a:solidFill>
                  <a:schemeClr val="tx2"/>
                </a:solidFill>
              </a:rPr>
              <a:t>frameworks</a:t>
            </a:r>
            <a:endParaRPr lang="en-US" sz="1400" dirty="0"/>
          </a:p>
        </p:txBody>
      </p:sp>
      <p:sp>
        <p:nvSpPr>
          <p:cNvPr id="15" name="Shape 12"/>
          <p:cNvSpPr/>
          <p:nvPr/>
        </p:nvSpPr>
        <p:spPr>
          <a:xfrm>
            <a:off x="6848856" y="3017520"/>
            <a:ext cx="1828800" cy="1463040"/>
          </a:xfrm>
          <a:prstGeom prst="roundRect">
            <a:avLst>
              <a:gd name="adj" fmla="val 6250"/>
            </a:avLst>
          </a:prstGeom>
          <a:solidFill>
            <a:schemeClr val="bg2"/>
          </a:solidFill>
          <a:ln/>
        </p:spPr>
      </p:sp>
      <p:sp>
        <p:nvSpPr>
          <p:cNvPr id="16" name="Text 13"/>
          <p:cNvSpPr txBox="1"/>
          <p:nvPr/>
        </p:nvSpPr>
        <p:spPr>
          <a:xfrm>
            <a:off x="6848856" y="3154680"/>
            <a:ext cx="1828800" cy="731520"/>
          </a:xfrm>
          <a:prstGeom prst="rect">
            <a:avLst/>
          </a:prstGeom>
          <a:noFill/>
          <a:ln/>
        </p:spPr>
        <p:txBody>
          <a:bodyPr wrap="square" rtlCol="0" anchor="ctr"/>
          <a:lstStyle/>
          <a:p>
            <a:pPr algn="ctr" indent="0" marL="0">
              <a:buNone/>
            </a:pPr>
            <a:r>
              <a:rPr lang="en-US" sz="3200" b="1" dirty="0">
                <a:solidFill>
                  <a:schemeClr val="accent1"/>
                </a:solidFill>
              </a:rPr>
              <a:t>3</a:t>
            </a:r>
            <a:endParaRPr lang="en-US" sz="3200" dirty="0"/>
          </a:p>
        </p:txBody>
      </p:sp>
      <p:sp>
        <p:nvSpPr>
          <p:cNvPr id="17" name="Text 14"/>
          <p:cNvSpPr txBox="1"/>
          <p:nvPr/>
        </p:nvSpPr>
        <p:spPr>
          <a:xfrm>
            <a:off x="6848856" y="3886200"/>
            <a:ext cx="1828800" cy="365760"/>
          </a:xfrm>
          <a:prstGeom prst="rect">
            <a:avLst/>
          </a:prstGeom>
          <a:noFill/>
          <a:ln/>
        </p:spPr>
        <p:txBody>
          <a:bodyPr wrap="square" rtlCol="0" anchor="ctr"/>
          <a:lstStyle/>
          <a:p>
            <a:pPr algn="ctr" indent="0" marL="0">
              <a:buNone/>
            </a:pPr>
            <a:r>
              <a:rPr lang="en-US" sz="1400" dirty="0">
                <a:solidFill>
                  <a:schemeClr val="tx2"/>
                </a:solidFill>
              </a:rPr>
              <a:t>prediction tasks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Data and hourly bars</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Krrish Singla</a:t>
            </a:r>
            <a:endParaRPr lang="en-US" sz="1200" dirty="0"/>
          </a:p>
        </p:txBody>
      </p:sp>
      <p:sp>
        <p:nvSpPr>
          <p:cNvPr id="5" name="Text 2"/>
          <p:cNvSpPr txBox="1"/>
          <p:nvPr/>
        </p:nvSpPr>
        <p:spPr>
          <a:xfrm>
            <a:off x="457200" y="1280160"/>
            <a:ext cx="5120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Source: BitstampData_sample.csv, 499,999 minute rows</a:t>
            </a:r>
            <a:endParaRPr lang="en-US" sz="1600" dirty="0"/>
          </a:p>
          <a:p>
            <a:pPr marL="342900" indent="-342900">
              <a:spcAft>
                <a:spcPts val="1000"/>
              </a:spcAft>
              <a:buSzPct val="100000"/>
              <a:buChar char="•"/>
            </a:pPr>
            <a:r>
              <a:rPr lang="en-US" sz="1600" dirty="0">
                <a:solidFill>
                  <a:schemeClr val="tx1"/>
                </a:solidFill>
              </a:rPr>
              <a:t>Columns: open, high, low, close, volume in BTC and USD</a:t>
            </a:r>
            <a:endParaRPr lang="en-US" sz="1600" dirty="0"/>
          </a:p>
          <a:p>
            <a:pPr marL="342900" indent="-342900">
              <a:spcAft>
                <a:spcPts val="1000"/>
              </a:spcAft>
              <a:buSzPct val="100000"/>
              <a:buChar char="•"/>
            </a:pPr>
            <a:r>
              <a:rPr lang="en-US" sz="1600" dirty="0">
                <a:solidFill>
                  <a:schemeClr val="tx1"/>
                </a:solidFill>
              </a:rPr>
              <a:t>Trades combined into hourly bars (first, max, min, last, sum)</a:t>
            </a:r>
            <a:endParaRPr lang="en-US" sz="1600" dirty="0"/>
          </a:p>
          <a:p>
            <a:pPr marL="342900" indent="-342900">
              <a:spcAft>
                <a:spcPts val="1000"/>
              </a:spcAft>
              <a:buSzPct val="100000"/>
              <a:buChar char="•"/>
            </a:pPr>
            <a:r>
              <a:rPr lang="en-US" sz="1600" dirty="0">
                <a:solidFill>
                  <a:schemeClr val="tx1"/>
                </a:solidFill>
              </a:rPr>
              <a:t>5,125 bars kept, 3,209 empty hours dropped</a:t>
            </a:r>
            <a:endParaRPr lang="en-US" sz="1600" dirty="0"/>
          </a:p>
          <a:p>
            <a:pPr marL="342900" indent="-342900">
              <a:spcAft>
                <a:spcPts val="1000"/>
              </a:spcAft>
              <a:buSzPct val="100000"/>
              <a:buChar char="•"/>
            </a:pPr>
            <a:r>
              <a:rPr lang="en-US" sz="1600" dirty="0">
                <a:solidFill>
                  <a:schemeClr val="tx1"/>
                </a:solidFill>
              </a:rPr>
              <a:t>Price range $3.80 to $16.41</a:t>
            </a:r>
            <a:endParaRPr lang="en-US" sz="1600" dirty="0"/>
          </a:p>
        </p:txBody>
      </p:sp>
      <p:sp>
        <p:nvSpPr>
          <p:cNvPr id="6" name="Shape 3"/>
          <p:cNvSpPr/>
          <p:nvPr/>
        </p:nvSpPr>
        <p:spPr>
          <a:xfrm>
            <a:off x="5943600" y="1371600"/>
            <a:ext cx="2743200" cy="2743200"/>
          </a:xfrm>
          <a:prstGeom prst="roundRect">
            <a:avLst>
              <a:gd name="adj" fmla="val 3333"/>
            </a:avLst>
          </a:prstGeom>
          <a:solidFill>
            <a:schemeClr val="bg2"/>
          </a:solidFill>
          <a:ln/>
        </p:spPr>
      </p:sp>
      <p:sp>
        <p:nvSpPr>
          <p:cNvPr id="7" name="Text 4"/>
          <p:cNvSpPr txBox="1"/>
          <p:nvPr/>
        </p:nvSpPr>
        <p:spPr>
          <a:xfrm>
            <a:off x="5943600" y="1828800"/>
            <a:ext cx="2743200" cy="822960"/>
          </a:xfrm>
          <a:prstGeom prst="rect">
            <a:avLst/>
          </a:prstGeom>
          <a:noFill/>
          <a:ln/>
        </p:spPr>
        <p:txBody>
          <a:bodyPr wrap="square" rtlCol="0" anchor="ctr"/>
          <a:lstStyle/>
          <a:p>
            <a:pPr algn="ctr" indent="0" marL="0">
              <a:buNone/>
            </a:pPr>
            <a:r>
              <a:rPr lang="en-US" sz="4400" b="1" dirty="0">
                <a:solidFill>
                  <a:schemeClr val="accent1"/>
                </a:solidFill>
              </a:rPr>
              <a:t>95.1%</a:t>
            </a:r>
            <a:endParaRPr lang="en-US" sz="4400" dirty="0"/>
          </a:p>
        </p:txBody>
      </p:sp>
      <p:sp>
        <p:nvSpPr>
          <p:cNvPr id="8" name="Text 5"/>
          <p:cNvSpPr txBox="1"/>
          <p:nvPr/>
        </p:nvSpPr>
        <p:spPr>
          <a:xfrm>
            <a:off x="6126480" y="2743200"/>
            <a:ext cx="2377440" cy="914400"/>
          </a:xfrm>
          <a:prstGeom prst="rect">
            <a:avLst/>
          </a:prstGeom>
          <a:noFill/>
          <a:ln/>
        </p:spPr>
        <p:txBody>
          <a:bodyPr wrap="square" rtlCol="0" anchor="t"/>
          <a:lstStyle/>
          <a:p>
            <a:pPr algn="ctr" indent="0" marL="0">
              <a:buNone/>
            </a:pPr>
            <a:r>
              <a:rPr lang="en-US" sz="1400" dirty="0">
                <a:solidFill>
                  <a:schemeClr val="tx2"/>
                </a:solidFill>
              </a:rPr>
              <a:t>of minutes had no trade, so we use hourly bars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Features and targets</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Krrish Singla</a:t>
            </a:r>
            <a:endParaRPr lang="en-US" sz="1200" dirty="0"/>
          </a:p>
        </p:txBody>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2000" b="1" dirty="0">
                <a:solidFill>
                  <a:schemeClr val="accent1"/>
                </a:solidFill>
              </a:rPr>
              <a:t>26 features</a:t>
            </a:r>
            <a:endParaRPr lang="en-US" sz="2000" dirty="0"/>
          </a:p>
        </p:txBody>
      </p:sp>
      <p:sp>
        <p:nvSpPr>
          <p:cNvPr id="6" name="Text 3"/>
          <p:cNvSpPr txBox="1"/>
          <p:nvPr/>
        </p:nvSpPr>
        <p:spPr>
          <a:xfrm>
            <a:off x="457200" y="173736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Returns over 1 to 12 bars</a:t>
            </a:r>
            <a:endParaRPr lang="en-US" sz="1400" dirty="0"/>
          </a:p>
          <a:p>
            <a:pPr marL="342900" indent="-342900">
              <a:spcAft>
                <a:spcPts val="600"/>
              </a:spcAft>
              <a:buSzPct val="100000"/>
              <a:buChar char="•"/>
            </a:pPr>
            <a:r>
              <a:rPr lang="en-US" sz="1400" dirty="0">
                <a:solidFill>
                  <a:schemeClr val="tx1"/>
                </a:solidFill>
              </a:rPr>
              <a:t>Trend: price vs 5, 20, 30-bar averages</a:t>
            </a:r>
            <a:endParaRPr lang="en-US" sz="1400" dirty="0"/>
          </a:p>
          <a:p>
            <a:pPr marL="342900" indent="-342900">
              <a:spcAft>
                <a:spcPts val="600"/>
              </a:spcAft>
              <a:buSzPct val="100000"/>
              <a:buChar char="•"/>
            </a:pPr>
            <a:r>
              <a:rPr lang="en-US" sz="1400" dirty="0">
                <a:solidFill>
                  <a:schemeClr val="tx1"/>
                </a:solidFill>
              </a:rPr>
              <a:t>RSI, stochastic, MACD</a:t>
            </a:r>
            <a:endParaRPr lang="en-US" sz="1400" dirty="0"/>
          </a:p>
          <a:p>
            <a:pPr marL="342900" indent="-342900">
              <a:spcAft>
                <a:spcPts val="600"/>
              </a:spcAft>
              <a:buSzPct val="100000"/>
              <a:buChar char="•"/>
            </a:pPr>
            <a:r>
              <a:rPr lang="en-US" sz="1400" dirty="0">
                <a:solidFill>
                  <a:schemeClr val="tx1"/>
                </a:solidFill>
              </a:rPr>
              <a:t>Volatility and candle shape</a:t>
            </a:r>
            <a:endParaRPr lang="en-US" sz="1400" dirty="0"/>
          </a:p>
          <a:p>
            <a:pPr marL="342900" indent="-342900">
              <a:spcAft>
                <a:spcPts val="600"/>
              </a:spcAft>
              <a:buSzPct val="100000"/>
              <a:buChar char="•"/>
            </a:pPr>
            <a:r>
              <a:rPr lang="en-US" sz="1400" dirty="0">
                <a:solidFill>
                  <a:schemeClr val="tx1"/>
                </a:solidFill>
              </a:rPr>
              <a:t>Volume, activity, hour of day</a:t>
            </a:r>
            <a:endParaRPr lang="en-US" sz="1400" dirty="0"/>
          </a:p>
        </p:txBody>
      </p:sp>
      <p:sp>
        <p:nvSpPr>
          <p:cNvPr id="7" name="Text 4"/>
          <p:cNvSpPr txBox="1"/>
          <p:nvPr/>
        </p:nvSpPr>
        <p:spPr>
          <a:xfrm>
            <a:off x="4754880" y="1280160"/>
            <a:ext cx="3931920" cy="365760"/>
          </a:xfrm>
          <a:prstGeom prst="rect">
            <a:avLst/>
          </a:prstGeom>
          <a:noFill/>
          <a:ln/>
        </p:spPr>
        <p:txBody>
          <a:bodyPr wrap="square" lIns="0" tIns="0" rIns="0" bIns="0" rtlCol="0" anchor="t"/>
          <a:lstStyle/>
          <a:p>
            <a:pPr indent="0" marL="0">
              <a:buNone/>
            </a:pPr>
            <a:r>
              <a:rPr lang="en-US" sz="2000" b="1" dirty="0">
                <a:solidFill>
                  <a:schemeClr val="accent1"/>
                </a:solidFill>
              </a:rPr>
              <a:t>Three targets</a:t>
            </a:r>
            <a:endParaRPr lang="en-US" sz="2000" dirty="0"/>
          </a:p>
        </p:txBody>
      </p:sp>
      <p:sp>
        <p:nvSpPr>
          <p:cNvPr id="8" name="Text 5"/>
          <p:cNvSpPr txBox="1"/>
          <p:nvPr/>
        </p:nvSpPr>
        <p:spPr>
          <a:xfrm>
            <a:off x="4754880" y="173736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Buy/Sell now: 10-bar average above 60-bar average</a:t>
            </a:r>
            <a:endParaRPr lang="en-US" sz="1400" dirty="0"/>
          </a:p>
          <a:p>
            <a:pPr marL="342900" indent="-342900">
              <a:spcAft>
                <a:spcPts val="600"/>
              </a:spcAft>
              <a:buSzPct val="100000"/>
              <a:buChar char="•"/>
            </a:pPr>
            <a:r>
              <a:rPr lang="en-US" sz="1400" dirty="0">
                <a:solidFill>
                  <a:schemeClr val="tx1"/>
                </a:solidFill>
              </a:rPr>
              <a:t>Buy/Sell 12 bars ahead (our extra experiment)</a:t>
            </a:r>
            <a:endParaRPr lang="en-US" sz="1400" dirty="0"/>
          </a:p>
          <a:p>
            <a:pPr marL="342900" indent="-342900">
              <a:spcAft>
                <a:spcPts val="600"/>
              </a:spcAft>
              <a:buSzPct val="100000"/>
              <a:buChar char="•"/>
            </a:pPr>
            <a:r>
              <a:rPr lang="en-US" sz="1400" dirty="0">
                <a:solidFill>
                  <a:schemeClr val="tx1"/>
                </a:solidFill>
              </a:rPr>
              <a:t>Next-hour return (regression, capped at 5%)</a:t>
            </a:r>
            <a:endParaRPr lang="en-US" sz="1400" dirty="0"/>
          </a:p>
          <a:p>
            <a:pPr marL="342900" indent="-342900">
              <a:spcAft>
                <a:spcPts val="600"/>
              </a:spcAft>
              <a:buSzPct val="100000"/>
              <a:buChar char="•"/>
            </a:pPr>
            <a:r>
              <a:rPr lang="en-US" sz="1400" dirty="0">
                <a:solidFill>
                  <a:schemeClr val="tx1"/>
                </a:solidFill>
              </a:rPr>
              <a:t>Raw 10 and 60-bar averages are not inputs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The five frameworks</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Krrish Singla</a:t>
            </a:r>
            <a:endParaRPr lang="en-US" sz="1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4389120"/>
                <a:gridCol w="1828800"/>
              </a:tblGrid>
              <a:tr h="411480">
                <a:tc>
                  <a:txBody>
                    <a:bodyPr/>
                    <a:lstStyle/>
                    <a:p>
                      <a:pPr algn="ctr" indent="0" marL="0">
                        <a:buNone/>
                      </a:pPr>
                      <a:r>
                        <a:rPr lang="en-US" sz="1200" b="1" dirty="0">
                          <a:solidFill>
                            <a:srgbClr val="FFFFFF"/>
                          </a:solidFill>
                        </a:rPr>
                        <a:t>Framework</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Model and key settings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Size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r>
              <a:tr h="411480">
                <a:tc>
                  <a:txBody>
                    <a:bodyPr/>
                    <a:lstStyle/>
                    <a:p>
                      <a:pPr algn="l" indent="0" marL="0">
                        <a:buNone/>
                      </a:pPr>
                      <a:r>
                        <a:rPr lang="en-US" sz="1200" dirty="0">
                          <a:solidFill>
                            <a:srgbClr val="1F2430"/>
                          </a:solidFill>
                        </a:rPr>
                        <a:t>XGBoost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Boosted trees, depth 3, rate 0.03, early stopping</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56 to 344 trees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430"/>
                          </a:solidFill>
                        </a:rPr>
                        <a:t>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26-64-32-1, dropout 0.3, L2, Adam</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3,841 weights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430"/>
                          </a:solidFill>
                        </a:rPr>
                        <a:t>PyTorch + fastai</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tabular_learner, layers 64 and 32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about 4,000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430"/>
                          </a:solidFill>
                        </a:rPr>
                        <a:t>PyTorch + TabNet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8-wide, 3 decision steps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about 4,300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F2430"/>
                          </a:solidFill>
                        </a:rPr>
                        <a:t>PyTorch Lightning</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Same 64-32 network as a LightningModule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3,841 weights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400" dirty="0">
                <a:solidFill>
                  <a:schemeClr val="tx2"/>
                </a:solidFill>
              </a:rPr>
              <a:t>Lightning is used in place of Lightning Flash, which is no longer maintained.</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EDA: price and activity</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Shesanth K</a:t>
            </a:r>
            <a:endParaRPr lang="en-US" sz="1200" dirty="0"/>
          </a:p>
        </p:txBody>
      </p:sp>
      <p:pic>
        <p:nvPicPr>
          <p:cNvPr id="5" name="Image 0" descr="Bitcoin price with 10-bar and 60-bar averages">    </p:cNvPr>
          <p:cNvPicPr>
            <a:picLocks noChangeAspect="1"/>
          </p:cNvPicPr>
          <p:nvPr/>
        </p:nvPicPr>
        <p:blipFill>
          <a:blip r:embed="rId1"/>
          <a:stretch>
            <a:fillRect/>
          </a:stretch>
        </p:blipFill>
        <p:spPr>
          <a:xfrm>
            <a:off x="457200" y="1371600"/>
            <a:ext cx="4937760" cy="1795882"/>
          </a:xfrm>
          <a:prstGeom prst="rect">
            <a:avLst/>
          </a:prstGeom>
        </p:spPr>
      </p:pic>
      <p:sp>
        <p:nvSpPr>
          <p:cNvPr id="6" name="Text 2"/>
          <p:cNvSpPr txBox="1"/>
          <p:nvPr/>
        </p:nvSpPr>
        <p:spPr>
          <a:xfrm>
            <a:off x="457200" y="3246120"/>
            <a:ext cx="4937760" cy="274320"/>
          </a:xfrm>
          <a:prstGeom prst="rect">
            <a:avLst/>
          </a:prstGeom>
          <a:noFill/>
          <a:ln/>
        </p:spPr>
        <p:txBody>
          <a:bodyPr wrap="square" lIns="0" tIns="0" rIns="0" bIns="0" rtlCol="0" anchor="t"/>
          <a:lstStyle/>
          <a:p>
            <a:pPr indent="0" marL="0">
              <a:buNone/>
            </a:pPr>
            <a:r>
              <a:rPr lang="en-US" sz="1200" dirty="0">
                <a:solidFill>
                  <a:schemeClr val="accent5"/>
                </a:solidFill>
              </a:rPr>
              <a:t>Close price with 10-bar and 60-bar averages</a:t>
            </a:r>
            <a:endParaRPr lang="en-US" sz="1200" dirty="0"/>
          </a:p>
        </p:txBody>
      </p:sp>
      <p:sp>
        <p:nvSpPr>
          <p:cNvPr id="7" name="Text 3"/>
          <p:cNvSpPr txBox="1"/>
          <p:nvPr/>
        </p:nvSpPr>
        <p:spPr>
          <a:xfrm>
            <a:off x="5760720" y="1371600"/>
            <a:ext cx="292608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 duplicates, no missing values</a:t>
            </a:r>
            <a:endParaRPr lang="en-US" sz="1400" dirty="0"/>
          </a:p>
          <a:p>
            <a:pPr marL="342900" indent="-342900">
              <a:spcAft>
                <a:spcPts val="800"/>
              </a:spcAft>
              <a:buSzPct val="100000"/>
              <a:buChar char="•"/>
            </a:pPr>
            <a:r>
              <a:rPr lang="en-US" sz="1400" dirty="0">
                <a:solidFill>
                  <a:schemeClr val="tx1"/>
                </a:solidFill>
              </a:rPr>
              <a:t>155 bars in Jan, 662 in Aug</a:t>
            </a:r>
            <a:endParaRPr lang="en-US" sz="1400" dirty="0"/>
          </a:p>
          <a:p>
            <a:pPr marL="342900" indent="-342900">
              <a:spcAft>
                <a:spcPts val="800"/>
              </a:spcAft>
              <a:buSzPct val="100000"/>
              <a:buChar char="•"/>
            </a:pPr>
            <a:r>
              <a:rPr lang="en-US" sz="1400" dirty="0">
                <a:solidFill>
                  <a:schemeClr val="tx1"/>
                </a:solidFill>
              </a:rPr>
              <a:t>23.1% of bars follow a gap of 2+ hours</a:t>
            </a:r>
            <a:endParaRPr lang="en-US" sz="1400" dirty="0"/>
          </a:p>
          <a:p>
            <a:pPr marL="342900" indent="-342900">
              <a:spcAft>
                <a:spcPts val="800"/>
              </a:spcAft>
              <a:buSzPct val="100000"/>
              <a:buChar char="•"/>
            </a:pPr>
            <a:r>
              <a:rPr lang="en-US" sz="1400" dirty="0">
                <a:solidFill>
                  <a:schemeClr val="tx1"/>
                </a:solidFill>
              </a:rPr>
              <a:t>Longest gap: 29 hours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EDA: returns and the signal</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Shesanth K</a:t>
            </a:r>
            <a:endParaRPr lang="en-US" sz="1200" dirty="0"/>
          </a:p>
        </p:txBody>
      </p:sp>
      <p:pic>
        <p:nvPicPr>
          <p:cNvPr id="5" name="Image 0" descr="Distribution of hourly returns">    </p:cNvPr>
          <p:cNvPicPr>
            <a:picLocks noChangeAspect="1"/>
          </p:cNvPicPr>
          <p:nvPr/>
        </p:nvPicPr>
        <p:blipFill>
          <a:blip r:embed="rId1"/>
          <a:stretch>
            <a:fillRect/>
          </a:stretch>
        </p:blipFill>
        <p:spPr>
          <a:xfrm>
            <a:off x="457200" y="1371600"/>
            <a:ext cx="4023360" cy="2298802"/>
          </a:xfrm>
          <a:prstGeom prst="rect">
            <a:avLst/>
          </a:prstGeom>
        </p:spPr>
      </p:pic>
      <p:sp>
        <p:nvSpPr>
          <p:cNvPr id="6" name="Text 2"/>
          <p:cNvSpPr txBox="1"/>
          <p:nvPr/>
        </p:nvSpPr>
        <p:spPr>
          <a:xfrm>
            <a:off x="4846320" y="1371600"/>
            <a:ext cx="38404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Typical hourly swing 1.9%</a:t>
            </a:r>
            <a:endParaRPr lang="en-US" sz="1400" dirty="0"/>
          </a:p>
          <a:p>
            <a:pPr marL="342900" indent="-342900">
              <a:spcAft>
                <a:spcPts val="800"/>
              </a:spcAft>
              <a:buSzPct val="100000"/>
              <a:buChar char="•"/>
            </a:pPr>
            <a:r>
              <a:rPr lang="en-US" sz="1400" dirty="0">
                <a:solidFill>
                  <a:schemeClr val="tx1"/>
                </a:solidFill>
              </a:rPr>
              <a:t>127 bars moved more than 5%</a:t>
            </a:r>
            <a:endParaRPr lang="en-US" sz="1400" dirty="0"/>
          </a:p>
          <a:p>
            <a:pPr marL="342900" indent="-342900">
              <a:spcAft>
                <a:spcPts val="800"/>
              </a:spcAft>
              <a:buSzPct val="100000"/>
              <a:buChar char="•"/>
            </a:pPr>
            <a:r>
              <a:rPr lang="en-US" sz="1400" dirty="0">
                <a:solidFill>
                  <a:schemeClr val="tx1"/>
                </a:solidFill>
              </a:rPr>
              <a:t>Signal: 65.4% Buy, 34.6% Sell</a:t>
            </a:r>
            <a:endParaRPr lang="en-US" sz="1400" dirty="0"/>
          </a:p>
          <a:p>
            <a:pPr marL="342900" indent="-342900">
              <a:spcAft>
                <a:spcPts val="800"/>
              </a:spcAft>
              <a:buSzPct val="100000"/>
              <a:buChar char="•"/>
            </a:pPr>
            <a:r>
              <a:rPr lang="en-US" sz="1400" dirty="0">
                <a:solidFill>
                  <a:schemeClr val="tx1"/>
                </a:solidFill>
              </a:rPr>
              <a:t>Same signal as the previous bar 97.7% of the time</a:t>
            </a:r>
            <a:endParaRPr lang="en-US" sz="1400" dirty="0"/>
          </a:p>
          <a:p>
            <a:pPr marL="342900" indent="-342900">
              <a:spcAft>
                <a:spcPts val="800"/>
              </a:spcAft>
              <a:buSzPct val="100000"/>
              <a:buChar char="•"/>
            </a:pPr>
            <a:r>
              <a:rPr lang="en-US" sz="1400" dirty="0">
                <a:solidFill>
                  <a:schemeClr val="tx1"/>
                </a:solidFill>
              </a:rPr>
              <a:t>After a big move, the next bar tends to reverse (r = -0.34)</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Time split and scoring</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Shesanth K</a:t>
            </a:r>
            <a:endParaRPr lang="en-US" sz="1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2743200"/>
                <a:gridCol w="1828800"/>
                <a:gridCol w="1828800"/>
              </a:tblGrid>
              <a:tr h="365760">
                <a:tc>
                  <a:txBody>
                    <a:bodyPr/>
                    <a:lstStyle/>
                    <a:p>
                      <a:pPr algn="ctr" indent="0" marL="0">
                        <a:buNone/>
                      </a:pPr>
                      <a:r>
                        <a:rPr lang="en-US" sz="1200" b="1" dirty="0">
                          <a:solidFill>
                            <a:srgbClr val="FFFFFF"/>
                          </a:solidFill>
                        </a:rPr>
                        <a:t>Set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Dates (2012)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Rows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Buy share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r>
              <a:tr h="365760">
                <a:tc>
                  <a:txBody>
                    <a:bodyPr/>
                    <a:lstStyle/>
                    <a:p>
                      <a:pPr algn="l" indent="0" marL="0">
                        <a:buNone/>
                      </a:pPr>
                      <a:r>
                        <a:rPr lang="en-US" sz="1200" dirty="0">
                          <a:solidFill>
                            <a:srgbClr val="1F2430"/>
                          </a:solidFill>
                        </a:rPr>
                        <a:t>Train</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11 Jan to 28 Sep</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3,525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65.2%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430"/>
                          </a:solidFill>
                        </a:rPr>
                        <a:t>Validation</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29 Sep to 4 Nov</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746</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46.0%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430"/>
                          </a:solidFill>
                        </a:rPr>
                        <a:t>Test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5 Nov to 11 Dec</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759</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84.5%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01752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Regression: RMSE, MAE, R²</a:t>
            </a:r>
            <a:endParaRPr lang="en-US" sz="1400" dirty="0"/>
          </a:p>
          <a:p>
            <a:pPr marL="342900" indent="-342900">
              <a:spcAft>
                <a:spcPts val="600"/>
              </a:spcAft>
              <a:buSzPct val="100000"/>
              <a:buChar char="•"/>
            </a:pPr>
            <a:r>
              <a:rPr lang="en-US" sz="1400" dirty="0">
                <a:solidFill>
                  <a:schemeClr val="tx1"/>
                </a:solidFill>
              </a:rPr>
              <a:t>Classification: accuracy, balanced accuracy, F1, AUC</a:t>
            </a:r>
            <a:endParaRPr lang="en-US" sz="1400" dirty="0"/>
          </a:p>
          <a:p>
            <a:pPr marL="342900" indent="-342900">
              <a:spcAft>
                <a:spcPts val="600"/>
              </a:spcAft>
              <a:buSzPct val="100000"/>
              <a:buChar char="•"/>
            </a:pPr>
            <a:r>
              <a:rPr lang="en-US" sz="1400" dirty="0">
                <a:solidFill>
                  <a:schemeClr val="tx1"/>
                </a:solidFill>
              </a:rPr>
              <a:t>Baselines: average return, always Buy, repeat current signal</a:t>
            </a:r>
            <a:endParaRPr lang="en-US" sz="1400" dirty="0"/>
          </a:p>
          <a:p>
            <a:pPr marL="342900" indent="-342900">
              <a:spcAft>
                <a:spcPts val="600"/>
              </a:spcAft>
              <a:buSzPct val="100000"/>
              <a:buChar char="•"/>
            </a:pPr>
            <a:r>
              <a:rPr lang="en-US" sz="1400" dirty="0">
                <a:solidFill>
                  <a:schemeClr val="tx1"/>
                </a:solidFill>
              </a:rPr>
              <a:t>Test set scored once, at the end</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Regression results</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Shesanth K</a:t>
            </a:r>
            <a:endParaRPr lang="en-US" sz="1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1645920"/>
                <a:gridCol w="1645920"/>
                <a:gridCol w="1645920"/>
              </a:tblGrid>
              <a:tr h="310896">
                <a:tc>
                  <a:txBody>
                    <a:bodyPr/>
                    <a:lstStyle/>
                    <a:p>
                      <a:pPr algn="ctr" indent="0" marL="0">
                        <a:buNone/>
                      </a:pPr>
                      <a:r>
                        <a:rPr lang="en-US" sz="1200" b="1" dirty="0">
                          <a:solidFill>
                            <a:srgbClr val="FFFFFF"/>
                          </a:solidFill>
                        </a:rPr>
                        <a:t>Model</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RMSE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MAE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R²</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r>
              <a:tr h="310896">
                <a:tc>
                  <a:txBody>
                    <a:bodyPr/>
                    <a:lstStyle/>
                    <a:p>
                      <a:pPr algn="l" indent="0" marL="0">
                        <a:buNone/>
                      </a:pPr>
                      <a:r>
                        <a:rPr lang="en-US" sz="1200" i="1" dirty="0">
                          <a:solidFill>
                            <a:srgbClr val="6B7280"/>
                          </a:solidFill>
                        </a:rPr>
                        <a:t>Baseline (average)</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0.0083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0.0056</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0.000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r>
              <a:tr h="310896">
                <a:tc>
                  <a:txBody>
                    <a:bodyPr/>
                    <a:lstStyle/>
                    <a:p>
                      <a:pPr algn="l" indent="0" marL="0">
                        <a:buNone/>
                      </a:pPr>
                      <a:r>
                        <a:rPr lang="en-US" sz="1200" dirty="0">
                          <a:solidFill>
                            <a:srgbClr val="1F2430"/>
                          </a:solidFill>
                        </a:rPr>
                        <a:t>XGBoost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0.217</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0.210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fastai</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0.216</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TabNet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0.218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Lightning</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0.234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Blend (XGB + 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0.0073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0.0052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0.223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400" dirty="0">
                <a:solidFill>
                  <a:schemeClr val="tx2"/>
                </a:solidFill>
              </a:rPr>
              <a:t>Error is about 12% lower than the baseline. No framework wins consistently; the signal is a thin-market bounce-back.</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Buy/Sell now results</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Shamika Mahesh</a:t>
            </a:r>
            <a:endParaRPr lang="en-US" sz="1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1325880"/>
                <a:gridCol w="1325880"/>
                <a:gridCol w="1325880"/>
                <a:gridCol w="1325880"/>
              </a:tblGrid>
              <a:tr h="310896">
                <a:tc>
                  <a:txBody>
                    <a:bodyPr/>
                    <a:lstStyle/>
                    <a:p>
                      <a:pPr algn="ctr" indent="0" marL="0">
                        <a:buNone/>
                      </a:pPr>
                      <a:r>
                        <a:rPr lang="en-US" sz="1200" b="1" dirty="0">
                          <a:solidFill>
                            <a:srgbClr val="FFFFFF"/>
                          </a:solidFill>
                        </a:rPr>
                        <a:t>Model</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Accuracy</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Bal. acc.</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F1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AUC</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r>
              <a:tr h="310896">
                <a:tc>
                  <a:txBody>
                    <a:bodyPr/>
                    <a:lstStyle/>
                    <a:p>
                      <a:pPr algn="l" indent="0" marL="0">
                        <a:buNone/>
                      </a:pPr>
                      <a:r>
                        <a:rPr lang="en-US" sz="1200" i="1" dirty="0">
                          <a:solidFill>
                            <a:srgbClr val="6B7280"/>
                          </a:solidFill>
                        </a:rPr>
                        <a:t>Baseline (always Buy)</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84.5%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0.500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0.916</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0.500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r>
              <a:tr h="310896">
                <a:tc>
                  <a:txBody>
                    <a:bodyPr/>
                    <a:lstStyle/>
                    <a:p>
                      <a:pPr algn="l" indent="0" marL="0">
                        <a:buNone/>
                      </a:pPr>
                      <a:r>
                        <a:rPr lang="en-US" sz="1200" dirty="0">
                          <a:solidFill>
                            <a:srgbClr val="1F2430"/>
                          </a:solidFill>
                        </a:rPr>
                        <a:t>XGBoost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95.8%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0.923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0.975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0.991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96.2%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0.922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0.977</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0.991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fastai</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94.1%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0.903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0.965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0.982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TabNet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96.1%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0.894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0.977</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0.989</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Lightning</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96.3%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0.933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0.978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0.989</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Blend (XGB + 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96.8%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0.933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0.981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0.993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400" dirty="0">
                <a:solidFill>
                  <a:schemeClr val="tx2"/>
                </a:solidFill>
              </a:rPr>
              <a:t>All beat the 84.5% baseline, including on balanced accuracy. This is trend recognition, not forecasting.</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12 bars ahead (extra)</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Shamika Mahesh</a:t>
            </a:r>
            <a:endParaRPr lang="en-US" sz="1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1325880"/>
                <a:gridCol w="1325880"/>
                <a:gridCol w="1325880"/>
                <a:gridCol w="1325880"/>
              </a:tblGrid>
              <a:tr h="310896">
                <a:tc>
                  <a:txBody>
                    <a:bodyPr/>
                    <a:lstStyle/>
                    <a:p>
                      <a:pPr algn="ctr" indent="0" marL="0">
                        <a:buNone/>
                      </a:pPr>
                      <a:r>
                        <a:rPr lang="en-US" sz="1200" b="1" dirty="0">
                          <a:solidFill>
                            <a:srgbClr val="FFFFFF"/>
                          </a:solidFill>
                        </a:rPr>
                        <a:t>Model</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Accuracy</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Bal. acc.</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F1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c>
                  <a:txBody>
                    <a:bodyPr/>
                    <a:lstStyle/>
                    <a:p>
                      <a:pPr algn="ctr" indent="0" marL="0">
                        <a:buNone/>
                      </a:pPr>
                      <a:r>
                        <a:rPr lang="en-US" sz="1200" b="1" dirty="0">
                          <a:solidFill>
                            <a:srgbClr val="FFFFFF"/>
                          </a:solidFill>
                        </a:rPr>
                        <a:t>AUC</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2B2F3A"/>
                    </a:solidFill>
                  </a:tcPr>
                </a:tc>
              </a:tr>
              <a:tr h="310896">
                <a:tc>
                  <a:txBody>
                    <a:bodyPr/>
                    <a:lstStyle/>
                    <a:p>
                      <a:pPr algn="l" indent="0" marL="0">
                        <a:buNone/>
                      </a:pPr>
                      <a:r>
                        <a:rPr lang="en-US" sz="1200" i="1" dirty="0">
                          <a:solidFill>
                            <a:srgbClr val="6B7280"/>
                          </a:solidFill>
                        </a:rPr>
                        <a:t>Baseline (repeat signal)</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84.5%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0.704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0.908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c>
                  <a:txBody>
                    <a:bodyPr/>
                    <a:lstStyle/>
                    <a:p>
                      <a:pPr algn="ctr" indent="0" marL="0">
                        <a:buNone/>
                      </a:pPr>
                      <a:r>
                        <a:rPr lang="en-US" sz="1200" i="1" dirty="0">
                          <a:solidFill>
                            <a:srgbClr val="6B7280"/>
                          </a:solidFill>
                        </a:rPr>
                        <a:t>0.704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3F4F6"/>
                    </a:solidFill>
                  </a:tcPr>
                </a:tc>
              </a:tr>
              <a:tr h="310896">
                <a:tc>
                  <a:txBody>
                    <a:bodyPr/>
                    <a:lstStyle/>
                    <a:p>
                      <a:pPr algn="l" indent="0" marL="0">
                        <a:buNone/>
                      </a:pPr>
                      <a:r>
                        <a:rPr lang="en-US" sz="1200" dirty="0">
                          <a:solidFill>
                            <a:srgbClr val="1F2430"/>
                          </a:solidFill>
                        </a:rPr>
                        <a:t>XGBoost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84.7%</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0.723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0.909</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0.825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84.1%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0.698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0.906</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0.825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fastai</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82.1%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0.731</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0.890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0.825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 TabNet</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85.4%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0.713</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0.914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0.828</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PyTorch Lightning</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83.5%</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0.702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0.902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0.829</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430"/>
                          </a:solidFill>
                        </a:rPr>
                        <a:t>Blend (XGB + Keras)</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85.0%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0.704</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0.912</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30"/>
                          </a:solidFill>
                        </a:rPr>
                        <a:t>0.830</a:t>
                      </a:r>
                      <a:endParaRPr lang="en-US" sz="1200" dirty="0"/>
                    </a:p>
                  </a:txBody>
                  <a:tcPr marL="91440" marR="91440" marT="45720" marB="45720" anchor="ctr">
                    <a:lnL w="9525" cap="flat" cmpd="sng" algn="ctr">
                      <a:solidFill>
                        <a:srgbClr val="D0D3D9"/>
                      </a:solidFill>
                      <a:prstDash val="solid"/>
                      <a:round/>
                      <a:headEnd type="none" w="med" len="med"/>
                      <a:tailEnd type="none" w="med" len="med"/>
                    </a:lnL>
                    <a:lnR w="9525" cap="flat" cmpd="sng" algn="ctr">
                      <a:solidFill>
                        <a:srgbClr val="D0D3D9"/>
                      </a:solidFill>
                      <a:prstDash val="solid"/>
                      <a:round/>
                      <a:headEnd type="none" w="med" len="med"/>
                      <a:tailEnd type="none" w="med" len="med"/>
                    </a:lnR>
                    <a:lnT w="9525" cap="flat" cmpd="sng" algn="ctr">
                      <a:solidFill>
                        <a:srgbClr val="D0D3D9"/>
                      </a:solidFill>
                      <a:prstDash val="solid"/>
                      <a:round/>
                      <a:headEnd type="none" w="med" len="med"/>
                      <a:tailEnd type="none" w="med" len="med"/>
                    </a:lnT>
                    <a:lnB w="9525" cap="flat" cmpd="sng" algn="ctr">
                      <a:solidFill>
                        <a:srgbClr val="D0D3D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400" dirty="0">
                <a:solidFill>
                  <a:schemeClr val="tx2"/>
                </a:solidFill>
              </a:rPr>
              <a:t>Not clearly above the baseline (1.3 points is noise on 759 bars). Only AUC is clearly higher: 0.82 to 0.83 vs 0.70.</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Framework comparison</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Shamika Mahesh</a:t>
            </a:r>
            <a:endParaRPr lang="en-US" sz="1200" dirty="0"/>
          </a:p>
        </p:txBody>
      </p:sp>
      <p:sp>
        <p:nvSpPr>
          <p:cNvPr id="5" name="Shape 2"/>
          <p:cNvSpPr/>
          <p:nvPr/>
        </p:nvSpPr>
        <p:spPr>
          <a:xfrm>
            <a:off x="457200" y="1371600"/>
            <a:ext cx="2606040" cy="3017520"/>
          </a:xfrm>
          <a:prstGeom prst="roundRect">
            <a:avLst>
              <a:gd name="adj" fmla="val 3509"/>
            </a:avLst>
          </a:prstGeom>
          <a:solidFill>
            <a:schemeClr val="bg2"/>
          </a:solidFill>
          <a:ln/>
        </p:spPr>
      </p:sp>
      <p:sp>
        <p:nvSpPr>
          <p:cNvPr id="6" name="Text 3"/>
          <p:cNvSpPr txBox="1"/>
          <p:nvPr/>
        </p:nvSpPr>
        <p:spPr>
          <a:xfrm>
            <a:off x="640080" y="1554480"/>
            <a:ext cx="2240280" cy="411480"/>
          </a:xfrm>
          <a:prstGeom prst="rect">
            <a:avLst/>
          </a:prstGeom>
          <a:noFill/>
          <a:ln/>
        </p:spPr>
        <p:txBody>
          <a:bodyPr wrap="square" lIns="0" tIns="0" rIns="0" bIns="0" rtlCol="0" anchor="t"/>
          <a:lstStyle/>
          <a:p>
            <a:pPr indent="0" marL="0">
              <a:buNone/>
            </a:pPr>
            <a:r>
              <a:rPr lang="en-US" sz="2200" b="1" dirty="0">
                <a:solidFill>
                  <a:schemeClr val="accent2"/>
                </a:solidFill>
              </a:rPr>
              <a:t>Simplicity</a:t>
            </a:r>
            <a:endParaRPr lang="en-US" sz="2200" dirty="0"/>
          </a:p>
        </p:txBody>
      </p:sp>
      <p:sp>
        <p:nvSpPr>
          <p:cNvPr id="7" name="Text 4"/>
          <p:cNvSpPr txBox="1"/>
          <p:nvPr/>
        </p:nvSpPr>
        <p:spPr>
          <a:xfrm>
            <a:off x="640080" y="2103120"/>
            <a:ext cx="224028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XGBoost: few settings, 0.2 to 0.4 s</a:t>
            </a:r>
            <a:endParaRPr lang="en-US" sz="1400" dirty="0"/>
          </a:p>
          <a:p>
            <a:pPr marL="342900" indent="-342900">
              <a:spcAft>
                <a:spcPts val="1000"/>
              </a:spcAft>
              <a:buSzPct val="100000"/>
              <a:buChar char="•"/>
            </a:pPr>
            <a:r>
              <a:rPr lang="en-US" sz="1400" dirty="0">
                <a:solidFill>
                  <a:schemeClr val="tx1"/>
                </a:solidFill>
              </a:rPr>
              <a:t>Keras 4 to 8 s, fastai 11 to 17 s</a:t>
            </a:r>
            <a:endParaRPr lang="en-US" sz="1400" dirty="0"/>
          </a:p>
          <a:p>
            <a:pPr marL="342900" indent="-342900">
              <a:spcAft>
                <a:spcPts val="1000"/>
              </a:spcAft>
              <a:buSzPct val="100000"/>
              <a:buChar char="•"/>
            </a:pPr>
            <a:r>
              <a:rPr lang="en-US" sz="1400" dirty="0">
                <a:solidFill>
                  <a:schemeClr val="tx1"/>
                </a:solidFill>
              </a:rPr>
              <a:t>TabNet, Lightning: most set-up</a:t>
            </a:r>
            <a:endParaRPr lang="en-US" sz="1400" dirty="0"/>
          </a:p>
        </p:txBody>
      </p:sp>
      <p:sp>
        <p:nvSpPr>
          <p:cNvPr id="8" name="Shape 5"/>
          <p:cNvSpPr/>
          <p:nvPr/>
        </p:nvSpPr>
        <p:spPr>
          <a:xfrm>
            <a:off x="3246120" y="1371600"/>
            <a:ext cx="2606040" cy="3017520"/>
          </a:xfrm>
          <a:prstGeom prst="roundRect">
            <a:avLst>
              <a:gd name="adj" fmla="val 3509"/>
            </a:avLst>
          </a:prstGeom>
          <a:solidFill>
            <a:schemeClr val="bg2"/>
          </a:solidFill>
          <a:ln/>
        </p:spPr>
      </p:sp>
      <p:sp>
        <p:nvSpPr>
          <p:cNvPr id="9" name="Text 6"/>
          <p:cNvSpPr txBox="1"/>
          <p:nvPr/>
        </p:nvSpPr>
        <p:spPr>
          <a:xfrm>
            <a:off x="3429000" y="1554480"/>
            <a:ext cx="2240280" cy="411480"/>
          </a:xfrm>
          <a:prstGeom prst="rect">
            <a:avLst/>
          </a:prstGeom>
          <a:noFill/>
          <a:ln/>
        </p:spPr>
        <p:txBody>
          <a:bodyPr wrap="square" lIns="0" tIns="0" rIns="0" bIns="0" rtlCol="0" anchor="t"/>
          <a:lstStyle/>
          <a:p>
            <a:pPr indent="0" marL="0">
              <a:buNone/>
            </a:pPr>
            <a:r>
              <a:rPr lang="en-US" sz="2200" b="1" dirty="0">
                <a:solidFill>
                  <a:schemeClr val="accent3"/>
                </a:solidFill>
              </a:rPr>
              <a:t>Transparency</a:t>
            </a:r>
            <a:endParaRPr lang="en-US" sz="2200" dirty="0"/>
          </a:p>
        </p:txBody>
      </p:sp>
      <p:sp>
        <p:nvSpPr>
          <p:cNvPr id="10" name="Text 7"/>
          <p:cNvSpPr txBox="1"/>
          <p:nvPr/>
        </p:nvSpPr>
        <p:spPr>
          <a:xfrm>
            <a:off x="3429000" y="2103120"/>
            <a:ext cx="224028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XGBoost: importance and SHAP</a:t>
            </a:r>
            <a:endParaRPr lang="en-US" sz="1400" dirty="0"/>
          </a:p>
          <a:p>
            <a:pPr marL="342900" indent="-342900">
              <a:spcAft>
                <a:spcPts val="1000"/>
              </a:spcAft>
              <a:buSzPct val="100000"/>
              <a:buChar char="•"/>
            </a:pPr>
            <a:r>
              <a:rPr lang="en-US" sz="1400" dirty="0">
                <a:solidFill>
                  <a:schemeClr val="tx1"/>
                </a:solidFill>
              </a:rPr>
              <a:t>TabNet: built-in feature masks</a:t>
            </a:r>
            <a:endParaRPr lang="en-US" sz="1400" dirty="0"/>
          </a:p>
          <a:p>
            <a:pPr marL="342900" indent="-342900">
              <a:spcAft>
                <a:spcPts val="1000"/>
              </a:spcAft>
              <a:buSzPct val="100000"/>
              <a:buChar char="•"/>
            </a:pPr>
            <a:r>
              <a:rPr lang="en-US" sz="1400" dirty="0">
                <a:solidFill>
                  <a:schemeClr val="tx1"/>
                </a:solidFill>
              </a:rPr>
              <a:t>Keras, fastai, Lightning: black boxes</a:t>
            </a:r>
            <a:endParaRPr lang="en-US" sz="1400" dirty="0"/>
          </a:p>
        </p:txBody>
      </p:sp>
      <p:sp>
        <p:nvSpPr>
          <p:cNvPr id="11" name="Shape 8"/>
          <p:cNvSpPr/>
          <p:nvPr/>
        </p:nvSpPr>
        <p:spPr>
          <a:xfrm>
            <a:off x="6035040" y="1371600"/>
            <a:ext cx="2606040" cy="3017520"/>
          </a:xfrm>
          <a:prstGeom prst="roundRect">
            <a:avLst>
              <a:gd name="adj" fmla="val 3509"/>
            </a:avLst>
          </a:prstGeom>
          <a:solidFill>
            <a:schemeClr val="bg2"/>
          </a:solidFill>
          <a:ln/>
        </p:spPr>
      </p:sp>
      <p:sp>
        <p:nvSpPr>
          <p:cNvPr id="12" name="Text 9"/>
          <p:cNvSpPr txBox="1"/>
          <p:nvPr/>
        </p:nvSpPr>
        <p:spPr>
          <a:xfrm>
            <a:off x="6217920" y="1554480"/>
            <a:ext cx="2240280" cy="411480"/>
          </a:xfrm>
          <a:prstGeom prst="rect">
            <a:avLst/>
          </a:prstGeom>
          <a:noFill/>
          <a:ln/>
        </p:spPr>
        <p:txBody>
          <a:bodyPr wrap="square" lIns="0" tIns="0" rIns="0" bIns="0" rtlCol="0" anchor="t"/>
          <a:lstStyle/>
          <a:p>
            <a:pPr indent="0" marL="0">
              <a:buNone/>
            </a:pPr>
            <a:r>
              <a:rPr lang="en-US" sz="2200" b="1" dirty="0">
                <a:solidFill>
                  <a:schemeClr val="accent4"/>
                </a:solidFill>
              </a:rPr>
              <a:t>Efficacy</a:t>
            </a:r>
            <a:endParaRPr lang="en-US" sz="2200" dirty="0"/>
          </a:p>
        </p:txBody>
      </p:sp>
      <p:sp>
        <p:nvSpPr>
          <p:cNvPr id="13" name="Text 10"/>
          <p:cNvSpPr txBox="1"/>
          <p:nvPr/>
        </p:nvSpPr>
        <p:spPr>
          <a:xfrm>
            <a:off x="6217920" y="2103120"/>
            <a:ext cx="224028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R² 0.21 to 0.23 (baseline 0)</a:t>
            </a:r>
            <a:endParaRPr lang="en-US" sz="1400" dirty="0"/>
          </a:p>
          <a:p>
            <a:pPr marL="342900" indent="-342900">
              <a:spcAft>
                <a:spcPts val="1000"/>
              </a:spcAft>
              <a:buSzPct val="100000"/>
              <a:buChar char="•"/>
            </a:pPr>
            <a:r>
              <a:rPr lang="en-US" sz="1400" dirty="0">
                <a:solidFill>
                  <a:schemeClr val="tx1"/>
                </a:solidFill>
              </a:rPr>
              <a:t>Now: 94 to 97% (baseline 84.5%)</a:t>
            </a:r>
            <a:endParaRPr lang="en-US" sz="1400" dirty="0"/>
          </a:p>
          <a:p>
            <a:pPr marL="342900" indent="-342900">
              <a:spcAft>
                <a:spcPts val="1000"/>
              </a:spcAft>
              <a:buSzPct val="100000"/>
              <a:buChar char="•"/>
            </a:pPr>
            <a:r>
              <a:rPr lang="en-US" sz="1400" dirty="0">
                <a:solidFill>
                  <a:schemeClr val="tx1"/>
                </a:solidFill>
              </a:rPr>
              <a:t>No consistent winner</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tx2"/>
                </a:solidFill>
              </a:rPr>
              <a:t>Blending and SHAP</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8A8F98"/>
                </a:solidFill>
              </a:rPr>
              <a:t>Presenter: Shamika Mahesh</a:t>
            </a:r>
            <a:endParaRPr lang="en-US" sz="1200" dirty="0"/>
          </a:p>
        </p:txBody>
      </p:sp>
      <p:pic>
        <p:nvPicPr>
          <p:cNvPr id="5" name="Image 0" descr="SHAP summary plot for the regression model">    </p:cNvPr>
          <p:cNvPicPr>
            <a:picLocks noChangeAspect="1"/>
          </p:cNvPicPr>
          <p:nvPr/>
        </p:nvPicPr>
        <p:blipFill>
          <a:blip r:embed="rId1"/>
          <a:stretch>
            <a:fillRect/>
          </a:stretch>
        </p:blipFill>
        <p:spPr>
          <a:xfrm>
            <a:off x="457200" y="1280160"/>
            <a:ext cx="4572000" cy="2939796"/>
          </a:xfrm>
          <a:prstGeom prst="rect">
            <a:avLst/>
          </a:prstGeom>
        </p:spPr>
      </p:pic>
      <p:sp>
        <p:nvSpPr>
          <p:cNvPr id="6" name="Text 2"/>
          <p:cNvSpPr txBox="1"/>
          <p:nvPr/>
        </p:nvSpPr>
        <p:spPr>
          <a:xfrm>
            <a:off x="5394960" y="1280160"/>
            <a:ext cx="32918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Blend: level with the best single model</a:t>
            </a:r>
            <a:endParaRPr lang="en-US" sz="1400" dirty="0"/>
          </a:p>
          <a:p>
            <a:pPr marL="342900" indent="-342900">
              <a:spcAft>
                <a:spcPts val="800"/>
              </a:spcAft>
              <a:buSzPct val="100000"/>
              <a:buChar char="•"/>
            </a:pPr>
            <a:r>
              <a:rPr lang="en-US" sz="1400" dirty="0">
                <a:solidFill>
                  <a:schemeClr val="tx1"/>
                </a:solidFill>
              </a:rPr>
              <a:t>High latest return: lower predicted next return</a:t>
            </a:r>
            <a:endParaRPr lang="en-US" sz="1400" dirty="0"/>
          </a:p>
          <a:p>
            <a:pPr marL="342900" indent="-342900">
              <a:spcAft>
                <a:spcPts val="800"/>
              </a:spcAft>
              <a:buSzPct val="100000"/>
              <a:buChar char="•"/>
            </a:pPr>
            <a:r>
              <a:rPr lang="en-US" sz="1400" dirty="0">
                <a:solidFill>
                  <a:schemeClr val="tx1"/>
                </a:solidFill>
              </a:rPr>
              <a:t>Top features: price vs 5-bar average, latest return</a:t>
            </a:r>
            <a:endParaRPr lang="en-US" sz="1400" dirty="0"/>
          </a:p>
          <a:p>
            <a:pPr marL="342900" indent="-342900">
              <a:spcAft>
                <a:spcPts val="800"/>
              </a:spcAft>
              <a:buSzPct val="100000"/>
              <a:buChar char="•"/>
            </a:pPr>
            <a:r>
              <a:rPr lang="en-US" sz="1400" dirty="0">
                <a:solidFill>
                  <a:schemeClr val="tx1"/>
                </a:solidFill>
              </a:rPr>
              <a:t>Built-in vs SHAP ranking agreement: 0.84, 0.67, 0.84</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8F9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49224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Text 1"/>
          <p:cNvSpPr txBox="1"/>
          <p:nvPr/>
        </p:nvSpPr>
        <p:spPr>
          <a:xfrm>
            <a:off x="6675120" y="137160"/>
            <a:ext cx="2286000" cy="274320"/>
          </a:xfrm>
          <a:prstGeom prst="rect">
            <a:avLst/>
          </a:prstGeom>
          <a:noFill/>
          <a:ln/>
        </p:spPr>
        <p:txBody>
          <a:bodyPr wrap="square" lIns="0" tIns="0" rIns="0" bIns="0" rtlCol="0" anchor="t"/>
          <a:lstStyle/>
          <a:p>
            <a:pPr algn="r" indent="0" marL="0">
              <a:buNone/>
            </a:pPr>
            <a:r>
              <a:rPr lang="en-US" sz="1200" dirty="0">
                <a:solidFill>
                  <a:srgbClr val="D0D3D9"/>
                </a:solidFill>
              </a:rPr>
              <a:t>Presenter: Shamika Mahesh</a:t>
            </a:r>
            <a:endParaRPr lang="en-US" sz="1200" dirty="0"/>
          </a:p>
        </p:txBody>
      </p:sp>
      <p:sp>
        <p:nvSpPr>
          <p:cNvPr id="5" name="Text 2"/>
          <p:cNvSpPr txBox="1"/>
          <p:nvPr/>
        </p:nvSpPr>
        <p:spPr>
          <a:xfrm>
            <a:off x="548640" y="1371600"/>
            <a:ext cx="804672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All five frameworks recognise the current Buy/Sell trend well</a:t>
            </a:r>
            <a:endParaRPr lang="en-US" sz="1600" dirty="0"/>
          </a:p>
          <a:p>
            <a:pPr marL="342900" indent="-342900">
              <a:spcAft>
                <a:spcPts val="1000"/>
              </a:spcAft>
              <a:buSzPct val="100000"/>
              <a:buChar char="•"/>
            </a:pPr>
            <a:r>
              <a:rPr lang="en-US" sz="1600" dirty="0">
                <a:solidFill>
                  <a:schemeClr val="bg1"/>
                </a:solidFill>
              </a:rPr>
              <a:t>Next-hour return is only slightly predictable, mostly a thin-market bounce-back</a:t>
            </a:r>
            <a:endParaRPr lang="en-US" sz="1600" dirty="0"/>
          </a:p>
          <a:p>
            <a:pPr marL="342900" indent="-342900">
              <a:spcAft>
                <a:spcPts val="1000"/>
              </a:spcAft>
              <a:buSzPct val="100000"/>
              <a:buChar char="•"/>
            </a:pPr>
            <a:r>
              <a:rPr lang="en-US" sz="1600" dirty="0">
                <a:solidFill>
                  <a:schemeClr val="bg1"/>
                </a:solidFill>
              </a:rPr>
              <a:t>12-hour-ahead forecasts did not clearly beat repeating the current signal</a:t>
            </a:r>
            <a:endParaRPr lang="en-US" sz="1600" dirty="0"/>
          </a:p>
          <a:p>
            <a:pPr marL="342900" indent="-342900">
              <a:spcAft>
                <a:spcPts val="1000"/>
              </a:spcAft>
              <a:buSzPct val="100000"/>
              <a:buChar char="•"/>
            </a:pPr>
            <a:r>
              <a:rPr lang="en-US" sz="1600" dirty="0">
                <a:solidFill>
                  <a:schemeClr val="bg1"/>
                </a:solidFill>
              </a:rPr>
              <a:t>XGBoost is the fastest and easiest to explain, with equal accuracy</a:t>
            </a:r>
            <a:endParaRPr lang="en-US" sz="1600" dirty="0"/>
          </a:p>
          <a:p>
            <a:pPr marL="342900" indent="-342900">
              <a:spcAft>
                <a:spcPts val="1000"/>
              </a:spcAft>
              <a:buSzPct val="100000"/>
              <a:buChar char="•"/>
            </a:pPr>
            <a:r>
              <a:rPr lang="en-US" sz="1600" dirty="0">
                <a:solidFill>
                  <a:schemeClr val="bg1"/>
                </a:solidFill>
              </a:rPr>
              <a:t>Limits: one year of data, no trading costs, Lightning used in place of Flash</a:t>
            </a:r>
            <a:endParaRPr lang="en-US" sz="16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D0D3D9"/>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itcoin MLBD">
  <a:themeElements>
    <a:clrScheme name="Bitcoin MLBD">
      <a:dk1>
        <a:srgbClr val="1F2430"/>
      </a:dk1>
      <a:lt1>
        <a:srgbClr val="FFFFFF"/>
      </a:lt1>
      <a:dk2>
        <a:srgbClr val="2B2F3A"/>
      </a:dk2>
      <a:lt2>
        <a:srgbClr val="F3F4F6"/>
      </a:lt2>
      <a:accent1>
        <a:srgbClr val="F7931A"/>
      </a:accent1>
      <a:accent2>
        <a:srgbClr val="3A7CA5"/>
      </a:accent2>
      <a:accent3>
        <a:srgbClr val="4C9F70"/>
      </a:accent3>
      <a:accent4>
        <a:srgbClr val="C8553D"/>
      </a:accent4>
      <a:accent5>
        <a:srgbClr val="8A8F98"/>
      </a:accent5>
      <a:accent6>
        <a:srgbClr val="5B4B8A"/>
      </a:accent6>
      <a:hlink>
        <a:srgbClr val="3A7CA5"/>
      </a:hlink>
      <a:folHlink>
        <a:srgbClr val="8A8F98"/>
      </a:folHlink>
    </a:clrScheme>
    <a:fontScheme name="Bitcoin MLB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2026-10-26T10:48:22Z</dcterms:created>
  <dcterms:modified xsi:type="dcterms:W3CDTF">2026-10-26T10:48:22Z</dcterms:modified>
</cp:coreProperties>
</file>